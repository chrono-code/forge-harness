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3"/>
  </p:notesMasterIdLst>
  <p:sldIdLst>
    <p:sldId id="607" r:id="rId20"/>
    <p:sldId id="671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1"/>
    <p:restoredTop sz="75217"/>
  </p:normalViewPr>
  <p:slideViewPr>
    <p:cSldViewPr snapToGrid="0">
      <p:cViewPr>
        <p:scale>
          <a:sx n="141" d="100"/>
          <a:sy n="141" d="100"/>
        </p:scale>
        <p:origin x="-5016" y="-3152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.xml"/><Relationship Id="rId123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25" Type="http://schemas.openxmlformats.org/officeDocument/2006/relationships/viewProps" Target="viewProps.xml"/><Relationship Id="rId126" Type="http://schemas.openxmlformats.org/officeDocument/2006/relationships/theme" Target="theme/theme1.xml"/><Relationship Id="rId20" Type="http://schemas.openxmlformats.org/officeDocument/2006/relationships/slide" Target="slides/slide1.xml"/><Relationship Id="rId1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1pPr>
    <a:lvl2pPr indent="2286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2pPr>
    <a:lvl3pPr indent="4572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3pPr>
    <a:lvl4pPr indent="6858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4pPr>
    <a:lvl5pPr indent="9144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5pPr>
    <a:lvl6pPr indent="11430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6pPr>
    <a:lvl7pPr indent="13716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7pPr>
    <a:lvl8pPr indent="16002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8pPr>
    <a:lvl9pPr indent="18288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다시 하네스 이야기로 돌아가면, 이 하네스를 움직이는 엔진은 넷입니다. 그중 통과를 막고 서는 것이 품질 게이트이고, 그 게이트는 방법론들로 만들어졌습니다.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그리고 이번 발표에서는 그 넷 가운데 품질 게이트와, 게이트를 만든 방법론에 집중해서 말씀드리겠습니다. 나머지 셋은 오늘 다루지 않습니다.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카카오 큰글씨 Regular"/>
                <a:ea typeface="카카오 큰글씨 Regular"/>
                <a:cs typeface="카카오 큰글씨 Regular"/>
                <a:sym typeface="카카오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지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카카오 큰글씨 Regular"/>
                <a:ea typeface="카카오 큰글씨 Regular"/>
                <a:cs typeface="카카오 큰글씨 Regular"/>
                <a:sym typeface="카카오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카카오 큰글씨 Regular"/>
                <a:ea typeface="카카오 큰글씨 Regular"/>
                <a:cs typeface="카카오 큰글씨 Regular"/>
                <a:sym typeface="카카오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defTabSz="784225">
              <a:defRPr sz="3420"/>
            </a:lvl1pPr>
          </a:lstStyle>
          <a:p>
            <a:r>
              <a:t>저자 및 날짜</a:t>
            </a:r>
          </a:p>
        </p:txBody>
      </p:sp>
      <p:sp>
        <p:nvSpPr>
          <p:cNvPr id="33" name="프레젠테이션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프레젠테이션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97" userDrawn="1">
          <p15:clr>
            <a:srgbClr val="F26B43"/>
          </p15:clr>
        </p15:guide>
        <p15:guide id="2" orient="horz" pos="464" userDrawn="1">
          <p15:clr>
            <a:srgbClr val="F26B43"/>
          </p15:clr>
        </p15:guide>
        <p15:guide id="3" orient="horz" pos="7858" userDrawn="1">
          <p15:clr>
            <a:srgbClr val="F26B43"/>
          </p15:clr>
        </p15:guide>
        <p15:guide id="4" orient="horz" pos="8176" userDrawn="1">
          <p15:clr>
            <a:srgbClr val="F26B43"/>
          </p15:clr>
        </p15:guide>
        <p15:guide id="5" pos="491" userDrawn="1">
          <p15:clr>
            <a:srgbClr val="F26B43"/>
          </p15:clr>
        </p15:guide>
        <p15:guide id="6" pos="808" userDrawn="1">
          <p15:clr>
            <a:srgbClr val="F26B43"/>
          </p15:clr>
        </p15:guide>
        <p15:guide id="7" pos="14552" userDrawn="1">
          <p15:clr>
            <a:srgbClr val="F26B43"/>
          </p15:clr>
        </p15:guide>
        <p15:guide id="8" pos="148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3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이 하네스를 움직이는 </a:t>
            </a:r>
            <a:r>
              <a:rPr lang="ko-KR" altLang="en-US" sz="2800" dirty="0">
                <a:solidFill>
                  <a:srgbClr val="FAE100"/>
                </a:solidFill>
              </a:rPr>
              <a:t>엔진은 넷</a:t>
            </a:r>
            <a:r>
              <a:rPr lang="ko-KR" altLang="en-US" sz="2800" dirty="0">
                <a:solidFill>
                  <a:srgbClr val="FFFFFF"/>
                </a:solidFill>
              </a:rPr>
              <a:t>, 그중 통과를 </a:t>
            </a:r>
            <a:r>
              <a:rPr lang="ko-KR" altLang="en-US" sz="2800" dirty="0">
                <a:solidFill>
                  <a:srgbClr val="FAE100"/>
                </a:solidFill>
              </a:rPr>
              <a:t>막고 서는</a:t>
            </a:r>
            <a:r>
              <a:rPr lang="ko-KR" altLang="en-US" sz="2800" dirty="0">
                <a:solidFill>
                  <a:srgbClr val="FFFFFF"/>
                </a:solidFill>
              </a:rPr>
              <a:t> 것이 품질 게이트입니다</a:t>
            </a:r>
          </a:p>
        </p:txBody>
      </p:sp>
      <p:sp>
        <p:nvSpPr>
          <p:cNvPr id="20214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E0E0E0"/>
                </a:solidFill>
              </a:rPr>
              <a:t>사람의 의도</a:t>
            </a:r>
          </a:p>
        </p:txBody>
      </p:sp>
      <p:cxnSp>
        <p:nvCxnSpPr>
          <p:cNvPr id="30101" name="eng-ar1"/>
          <p:cNvCxnSpPr/>
          <p:nvPr/>
        </p:nvCxnSpPr>
        <p:spPr>
          <a:xfrm>
            <a:off x="3700000" y="6900000"/>
            <a:ext cx="1600000" cy="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endParaRPr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돌아간다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나가는 자리에서 통과를 막고 선다</a:t>
            </a:r>
          </a:p>
        </p:txBody>
      </p:sp>
      <p:cxnSp>
        <p:nvCxnSpPr>
          <p:cNvPr id="30108" name="eng-ar2"/>
          <p:cNvCxnSpPr/>
          <p:nvPr/>
        </p:nvCxnSpPr>
        <p:spPr>
          <a:xfrm>
            <a:off x="19100000" y="6900000"/>
            <a:ext cx="1600000" cy="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E0E0E0"/>
                </a:solidFill>
              </a:rPr>
              <a:t>되돌릴 수 없는 곳</a:t>
            </a:r>
          </a:p>
        </p:txBody>
      </p:sp>
      <p:cxnSp>
        <p:nvCxnSpPr>
          <p:cNvPr id="30110" name="eng-arup"/>
          <p:cNvCxnSpPr/>
          <p:nvPr/>
        </p:nvCxnSpPr>
        <p:spPr>
          <a:xfrm flipV="1">
            <a:off x="15462500" y="9510000"/>
            <a:ext cx="0" cy="58000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11" name="eng-mtd"/>
          <p:cNvSpPr/>
          <p:nvPr/>
        </p:nvSpPr>
        <p:spPr>
          <a:xfrm>
            <a:off x="12425000" y="10150000"/>
            <a:ext cx="6075000" cy="10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300" b="1" dirty="0">
                <a:solidFill>
                  <a:srgbClr val="E0E0E0"/>
                </a:solidFill>
              </a:rPr>
              <a:t>방법론</a:t>
            </a:r>
            <a:r>
              <a:rPr lang="ko-KR" altLang="en-US" sz="2000" b="0" dirty="0">
                <a:solidFill>
                  <a:srgbClr val="E0E0E0"/>
                </a:solidFill>
              </a:rPr>
              <a:t>  이 게이트를 만든다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5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20216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엔진 넷 가운데, 이번 발표는 </a:t>
            </a:r>
            <a:r>
              <a:rPr lang="ko-KR" altLang="en-US" sz="2800" dirty="0">
                <a:solidFill>
                  <a:srgbClr val="FAE100"/>
                </a:solidFill>
              </a:rPr>
              <a:t>품질 게이트</a:t>
            </a:r>
            <a:r>
              <a:rPr lang="ko-KR" altLang="en-US" sz="2800" dirty="0">
                <a:solidFill>
                  <a:srgbClr val="FFFFFF"/>
                </a:solidFill>
              </a:rPr>
              <a:t>와 그것을 만든 </a:t>
            </a:r>
            <a:r>
              <a:rPr lang="ko-KR" altLang="en-US" sz="2800" dirty="0">
                <a:solidFill>
                  <a:srgbClr val="FAE100"/>
                </a:solidFill>
              </a:rPr>
              <a:t>방법론</a:t>
            </a:r>
            <a:r>
              <a:rPr lang="ko-KR" altLang="en-US" sz="2800" dirty="0">
                <a:solidFill>
                  <a:srgbClr val="FFFFFF"/>
                </a:solidFill>
              </a:rPr>
              <a:t>에 집중합니다</a:t>
            </a:r>
          </a:p>
        </p:txBody>
      </p:sp>
      <p:sp>
        <p:nvSpPr>
          <p:cNvPr id="20241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7A7A7A"/>
                </a:solidFill>
              </a:rPr>
              <a:t>사람의 의도</a:t>
            </a:r>
          </a:p>
        </p:txBody>
      </p:sp>
      <p:cxnSp>
        <p:nvCxnSpPr>
          <p:cNvPr id="30101" name="eng-ar1"/>
          <p:cNvCxnSpPr/>
          <p:nvPr/>
        </p:nvCxnSpPr>
        <p:spPr>
          <a:xfrm>
            <a:off x="3700000" y="6900000"/>
            <a:ext cx="1600000" cy="0"/>
          </a:xfrm>
          <a:prstGeom prst="line">
            <a:avLst/>
          </a:prstGeom>
          <a:ln w="88900">
            <a:solidFill>
              <a:srgbClr val="7A7A7A"/>
            </a:solidFill>
            <a:tailEnd type="triangle" w="med" len="med"/>
          </a:ln>
        </p:spPr>
      </p:cxn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endParaRPr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돌아간다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1E1B00"/>
          </a:solidFill>
          <a:ln w="381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AE100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FAE100"/>
                </a:solidFill>
              </a:rPr>
              <a:t>나가는 자리에서 통과를 막고 선다</a:t>
            </a:r>
          </a:p>
        </p:txBody>
      </p:sp>
      <p:cxnSp>
        <p:nvCxnSpPr>
          <p:cNvPr id="30108" name="eng-ar2"/>
          <p:cNvCxnSpPr/>
          <p:nvPr/>
        </p:nvCxnSpPr>
        <p:spPr>
          <a:xfrm>
            <a:off x="19100000" y="6900000"/>
            <a:ext cx="1600000" cy="0"/>
          </a:xfrm>
          <a:prstGeom prst="line">
            <a:avLst/>
          </a:prstGeom>
          <a:ln w="88900">
            <a:solidFill>
              <a:srgbClr val="FAE100"/>
            </a:solidFill>
            <a:tailEnd type="triangle" w="med" len="med"/>
          </a:ln>
        </p:spPr>
      </p:cxn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FAE100"/>
                </a:solidFill>
              </a:rPr>
              <a:t>되돌릴 수 없는 곳</a:t>
            </a:r>
          </a:p>
        </p:txBody>
      </p:sp>
      <p:cxnSp>
        <p:nvCxnSpPr>
          <p:cNvPr id="30110" name="eng-arup"/>
          <p:cNvCxnSpPr/>
          <p:nvPr/>
        </p:nvCxnSpPr>
        <p:spPr>
          <a:xfrm flipV="1">
            <a:off x="15462500" y="9510000"/>
            <a:ext cx="0" cy="580000"/>
          </a:xfrm>
          <a:prstGeom prst="line">
            <a:avLst/>
          </a:prstGeom>
          <a:ln w="88900">
            <a:solidFill>
              <a:srgbClr val="FAE100"/>
            </a:solidFill>
            <a:tailEnd type="triangle" w="med" len="med"/>
          </a:ln>
        </p:spPr>
      </p:cxnSp>
      <p:sp>
        <p:nvSpPr>
          <p:cNvPr id="30111" name="eng-mtd"/>
          <p:cNvSpPr/>
          <p:nvPr/>
        </p:nvSpPr>
        <p:spPr>
          <a:xfrm>
            <a:off x="12425000" y="10150000"/>
            <a:ext cx="6075000" cy="1000000"/>
          </a:xfrm>
          <a:prstGeom prst="roundRect">
            <a:avLst>
              <a:gd name="adj" fmla="val 9000"/>
            </a:avLst>
          </a:prstGeom>
          <a:solidFill>
            <a:srgbClr val="1E1B00"/>
          </a:solidFill>
          <a:ln w="127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300" b="1" dirty="0">
                <a:solidFill>
                  <a:srgbClr val="FAE100"/>
                </a:solidFill>
              </a:rPr>
              <a:t>방법론</a:t>
            </a:r>
            <a:r>
              <a:rPr lang="ko-KR" altLang="en-US" sz="2000" b="0" dirty="0">
                <a:solidFill>
                  <a:srgbClr val="FAE100"/>
                </a:solidFill>
              </a:rPr>
              <a:t>  이 게이트를 만든다</a:t>
            </a:r>
          </a:p>
        </p:txBody>
      </p:sp>
      <p:sp>
        <p:nvSpPr>
          <p:cNvPr id="30112" name="eng-focus"/>
          <p:cNvSpPr txBox="1"/>
          <p:nvPr/>
        </p:nvSpPr>
        <p:spPr>
          <a:xfrm>
            <a:off x="5900000" y="10150000"/>
            <a:ext cx="5775000" cy="10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/>
            <a:r>
              <a:rPr lang="ko-KR" altLang="en-US" sz="2100" b="1" dirty="0">
                <a:solidFill>
                  <a:srgbClr val="FAE100"/>
                </a:solidFill>
              </a:rPr>
              <a:t>오늘 다루는 것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카카오 큰글씨 Bold"/>
        <a:ea typeface="카카오 큰글씨 Bold"/>
        <a:cs typeface="카카오 큰글씨 Bold"/>
      </a:majorFont>
      <a:minorFont>
        <a:latin typeface="카카오 큰글씨 Bold"/>
        <a:ea typeface="카카오 큰글씨 Bold"/>
        <a:cs typeface="카카오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카카오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카카오 큰글씨 Regular"/>
            <a:ea typeface="카카오 큰글씨 Regular"/>
            <a:cs typeface="카카오 큰글씨 Regular"/>
            <a:sym typeface="카카오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카카오 큰글씨 Bold"/>
        <a:ea typeface="카카오 큰글씨 Bold"/>
        <a:cs typeface="카카오 큰글씨 Bold"/>
      </a:majorFont>
      <a:minorFont>
        <a:latin typeface="카카오 큰글씨 Bold"/>
        <a:ea typeface="카카오 큰글씨 Bold"/>
        <a:cs typeface="카카오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카카오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카카오 큰글씨 Regular"/>
            <a:ea typeface="카카오 큰글씨 Regular"/>
            <a:cs typeface="카카오 큰글씨 Regular"/>
            <a:sym typeface="카카오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8962</Words>
  <Application>Microsoft Macintosh PowerPoint</Application>
  <PresentationFormat>사용자 지정</PresentationFormat>
  <Paragraphs>1477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카카오 큰글씨 Bold</vt:lpstr>
      <vt:lpstr>카카오 큰글씨 Regular</vt:lpstr>
      <vt:lpstr>Kakao Small Sans</vt:lpstr>
      <vt:lpstr>Courier New</vt:lpstr>
      <vt:lpstr>Helvetica Neue</vt:lpstr>
      <vt:lpstr>20_BasicBlack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성진 권</cp:lastModifiedBy>
  <cp:revision>19</cp:revision>
  <dcterms:modified xsi:type="dcterms:W3CDTF">2026-09-04T13:22:16Z</dcterms:modified>
</cp:coreProperties>
</file>