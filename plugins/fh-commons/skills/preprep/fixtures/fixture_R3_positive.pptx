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5"/>
  </p:notesMasterIdLst>
  <p:sldIdLst>
    <p:sldId id="607" r:id="rId20"/>
    <p:sldId id="671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카카오 큰글씨 Regular"/>
        <a:ea typeface="카카오 큰글씨 Regular"/>
        <a:cs typeface="카카오 큰글씨 Regular"/>
        <a:sym typeface="카카오 큰글씨 Regular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카카오 큰글씨 Regular"/>
          <a:ea typeface="카카오 큰글씨 Regular"/>
          <a:cs typeface="카카오 큰글씨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5"/>
    <p:restoredTop sz="75217"/>
  </p:normalViewPr>
  <p:slideViewPr>
    <p:cSldViewPr snapToGrid="0">
      <p:cViewPr varScale="1">
        <p:scale>
          <a:sx n="73" d="100"/>
          <a:sy n="73" d="100"/>
        </p:scale>
        <p:origin x="288" y="3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20" Type="http://schemas.openxmlformats.org/officeDocument/2006/relationships/slide" Target="slides/slide1.xml"/><Relationship Id="rId1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1pPr>
    <a:lvl2pPr indent="2286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2pPr>
    <a:lvl3pPr indent="4572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3pPr>
    <a:lvl4pPr indent="6858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4pPr>
    <a:lvl5pPr indent="9144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5pPr>
    <a:lvl6pPr indent="11430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6pPr>
    <a:lvl7pPr indent="13716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7pPr>
    <a:lvl8pPr indent="16002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8pPr>
    <a:lvl9pPr indent="1828800" defTabSz="457200" latinLnBrk="0">
      <a:lnSpc>
        <a:spcPct val="117999"/>
      </a:lnSpc>
      <a:defRPr sz="2200">
        <a:latin typeface="카카오 큰글씨 Regular"/>
        <a:ea typeface="카카오 큰글씨 Regular"/>
        <a:cs typeface="카카오 큰글씨 Regular"/>
        <a:sym typeface="카카오 큰글씨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다시 하네스 이야기로 돌아가면, 이 하네스를 움직이는 엔진은 넷입니다. 그중 통과를 막고 서는 것이 품질 게이트이고, 그 게이트는 방법론들로 만들어졌습니다.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ko-KR" altLang="en-US" dirty="0"/>
              <a:t>그리고 이번 발표에서는 그 넷 가운데 품질 게이트와, 게이트를 만든 방법론에 집중해서 말씀드리겠습니다. 나머지 셋은 오늘 다루지 않습니다.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카카오 큰글씨 Regular"/>
                <a:ea typeface="카카오 큰글씨 Regular"/>
                <a:cs typeface="카카오 큰글씨 Regular"/>
                <a:sym typeface="카카오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지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카카오 큰글씨 Regular"/>
                <a:ea typeface="카카오 큰글씨 Regular"/>
                <a:cs typeface="카카오 큰글씨 Regular"/>
                <a:sym typeface="카카오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89498" y="13011098"/>
            <a:ext cx="392507" cy="444501"/>
          </a:xfrm>
          <a:prstGeom prst="rect">
            <a:avLst/>
          </a:prstGeom>
        </p:spPr>
        <p:txBody>
          <a:bodyPr/>
          <a:lstStyle>
            <a:lvl1pPr>
              <a:defRPr>
                <a:latin typeface="카카오 큰글씨 Regular"/>
                <a:ea typeface="카카오 큰글씨 Regular"/>
                <a:cs typeface="카카오 큰글씨 Regular"/>
                <a:sym typeface="카카오 큰글씨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defTabSz="784225">
              <a:defRPr sz="3420"/>
            </a:lvl1pPr>
          </a:lstStyle>
          <a:p>
            <a:r>
              <a:t>저자 및 날짜</a:t>
            </a:r>
          </a:p>
        </p:txBody>
      </p:sp>
      <p:sp>
        <p:nvSpPr>
          <p:cNvPr id="33" name="프레젠테이션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프레젠테이션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97" userDrawn="1">
          <p15:clr>
            <a:srgbClr val="F26B43"/>
          </p15:clr>
        </p15:guide>
        <p15:guide id="2" orient="horz" pos="464" userDrawn="1">
          <p15:clr>
            <a:srgbClr val="F26B43"/>
          </p15:clr>
        </p15:guide>
        <p15:guide id="3" orient="horz" pos="7858" userDrawn="1">
          <p15:clr>
            <a:srgbClr val="F26B43"/>
          </p15:clr>
        </p15:guide>
        <p15:guide id="4" orient="horz" pos="8176" userDrawn="1">
          <p15:clr>
            <a:srgbClr val="F26B43"/>
          </p15:clr>
        </p15:guide>
        <p15:guide id="5" pos="491" userDrawn="1">
          <p15:clr>
            <a:srgbClr val="F26B43"/>
          </p15:clr>
        </p15:guide>
        <p15:guide id="6" pos="808" userDrawn="1">
          <p15:clr>
            <a:srgbClr val="F26B43"/>
          </p15:clr>
        </p15:guide>
        <p15:guide id="7" pos="14552" userDrawn="1">
          <p15:clr>
            <a:srgbClr val="F26B43"/>
          </p15:clr>
        </p15:guide>
        <p15:guide id="8" pos="148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이 하네스를 움직이는 </a:t>
            </a:r>
            <a:r>
              <a:rPr lang="ko-KR" altLang="en-US" sz="2800" dirty="0">
                <a:solidFill>
                  <a:srgbClr val="FAE100"/>
                </a:solidFill>
              </a:rPr>
              <a:t>엔진은 넷</a:t>
            </a:r>
            <a:r>
              <a:rPr lang="ko-KR" altLang="en-US" sz="2800" dirty="0">
                <a:solidFill>
                  <a:srgbClr val="FFFFFF"/>
                </a:solidFill>
              </a:rPr>
              <a:t>, 그중 통과를 </a:t>
            </a:r>
            <a:r>
              <a:rPr lang="ko-KR" altLang="en-US" sz="2800" dirty="0">
                <a:solidFill>
                  <a:srgbClr val="FAE100"/>
                </a:solidFill>
              </a:rPr>
              <a:t>막고 서는</a:t>
            </a:r>
            <a:r>
              <a:rPr lang="ko-KR" altLang="en-US" sz="2800" dirty="0">
                <a:solidFill>
                  <a:srgbClr val="FFFFFF"/>
                </a:solidFill>
              </a:rPr>
              <a:t> 것이 품질 게이트입니다</a:t>
            </a:r>
          </a:p>
        </p:txBody>
      </p:sp>
      <p:sp>
        <p:nvSpPr>
          <p:cNvPr id="20214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E0E0E0"/>
                </a:solidFill>
              </a:rPr>
              <a:t>사람의 의도</a:t>
            </a:r>
          </a:p>
        </p:txBody>
      </p:sp>
      <p:sp>
        <p:nvSpPr>
          <p:cNvPr id="30101" name="eng-ar1"/>
          <p:cNvSpPr/>
          <p:nvPr/>
        </p:nvSpPr>
        <p:spPr>
          <a:xfrm>
            <a:off x="37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돈다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E0E0E0"/>
                </a:solidFill>
              </a:rPr>
              <a:t>나가는 자리에서 통과를 막고 선다</a:t>
            </a:r>
          </a:p>
        </p:txBody>
      </p:sp>
      <p:sp>
        <p:nvSpPr>
          <p:cNvPr id="30108" name="eng-ar2"/>
          <p:cNvSpPr/>
          <p:nvPr/>
        </p:nvSpPr>
        <p:spPr>
          <a:xfrm>
            <a:off x="191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E0E0E0"/>
                </a:solidFill>
              </a:rPr>
              <a:t>되돌릴 수 없는 곳</a:t>
            </a:r>
          </a:p>
        </p:txBody>
      </p:sp>
      <p:sp>
        <p:nvSpPr>
          <p:cNvPr id="30110" name="eng-arup"/>
          <p:cNvSpPr/>
          <p:nvPr/>
        </p:nvSpPr>
        <p:spPr>
          <a:xfrm>
            <a:off x="15237500" y="9510000"/>
            <a:ext cx="450000" cy="580000"/>
          </a:xfrm>
          <a:prstGeom prst="up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1" name="eng-mtd"/>
          <p:cNvSpPr/>
          <p:nvPr/>
        </p:nvSpPr>
        <p:spPr>
          <a:xfrm>
            <a:off x="12425000" y="10150000"/>
            <a:ext cx="6075000" cy="10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300" b="1" dirty="0">
                <a:solidFill>
                  <a:srgbClr val="E0E0E0"/>
                </a:solidFill>
              </a:rPr>
              <a:t>방법론</a:t>
            </a:r>
            <a:r>
              <a:rPr lang="ko-KR" altLang="en-US" sz="2000" b="0" dirty="0">
                <a:solidFill>
                  <a:srgbClr val="E0E0E0"/>
                </a:solidFill>
              </a:rPr>
              <a:t>  이 게이트를 만든다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5" name="t2"/>
          <p:cNvSpPr txBox="1"/>
          <p:nvPr/>
        </p:nvSpPr>
        <p:spPr>
          <a:xfrm>
            <a:off x="1219648" y="484504"/>
            <a:ext cx="22000000" cy="1270001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l"/>
            <a:r>
              <a:rPr lang="ko-KR" sz="6200" b="1" dirty="0" err="1">
                <a:solidFill>
                  <a:srgbClr val="FFFFFF"/>
                </a:solidFill>
              </a:rPr>
              <a:t>하네스를 만들었습니다</a:t>
            </a:r>
          </a:p>
        </p:txBody>
      </p:sp>
      <p:sp>
        <p:nvSpPr>
          <p:cNvPr id="20216" name="t3"/>
          <p:cNvSpPr txBox="1"/>
          <p:nvPr/>
        </p:nvSpPr>
        <p:spPr>
          <a:xfrm>
            <a:off x="1219648" y="2050000"/>
            <a:ext cx="22000000" cy="7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ko-KR" altLang="en-US" sz="2800" dirty="0">
                <a:solidFill>
                  <a:srgbClr val="FFFFFF"/>
                </a:solidFill>
              </a:rPr>
              <a:t>엔진 넷 가운데, 이번 발표는 </a:t>
            </a:r>
            <a:r>
              <a:rPr lang="ko-KR" altLang="en-US" sz="2800" dirty="0">
                <a:solidFill>
                  <a:srgbClr val="FAE100"/>
                </a:solidFill>
              </a:rPr>
              <a:t>품질 게이트</a:t>
            </a:r>
            <a:r>
              <a:rPr lang="ko-KR" altLang="en-US" sz="2800" dirty="0">
                <a:solidFill>
                  <a:srgbClr val="FFFFFF"/>
                </a:solidFill>
              </a:rPr>
              <a:t>와 그것을 만든 </a:t>
            </a:r>
            <a:r>
              <a:rPr lang="ko-KR" altLang="en-US" sz="2800" dirty="0">
                <a:solidFill>
                  <a:srgbClr val="FAE100"/>
                </a:solidFill>
              </a:rPr>
              <a:t>방법론</a:t>
            </a:r>
            <a:r>
              <a:rPr lang="ko-KR" altLang="en-US" sz="2800" dirty="0">
                <a:solidFill>
                  <a:srgbClr val="FFFFFF"/>
                </a:solidFill>
              </a:rPr>
              <a:t>에 집중합니다</a:t>
            </a:r>
          </a:p>
        </p:txBody>
      </p:sp>
      <p:sp>
        <p:nvSpPr>
          <p:cNvPr id="20241" name="sec-guide"/>
          <p:cNvSpPr txBox="1"/>
          <p:nvPr/>
        </p:nvSpPr>
        <p:spPr>
          <a:xfrm>
            <a:off x="13164352" y="13020000"/>
            <a:ext cx="10000000" cy="4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r>
              <a:rPr lang="ko-KR" sz="1800" b="0" dirty="0">
                <a:solidFill>
                  <a:srgbClr val="E0E0E0"/>
                </a:solidFill>
              </a:rPr>
              <a:t>1. 무엇이 문제였나</a:t>
            </a:r>
          </a:p>
        </p:txBody>
      </p:sp>
      <p:sp>
        <p:nvSpPr>
          <p:cNvPr id="30100" name="eng-in"/>
          <p:cNvSpPr/>
          <p:nvPr/>
        </p:nvSpPr>
        <p:spPr>
          <a:xfrm>
            <a:off x="7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400" b="1" dirty="0">
                <a:solidFill>
                  <a:srgbClr val="7A7A7A"/>
                </a:solidFill>
              </a:rPr>
              <a:t>사람의 의도</a:t>
            </a:r>
          </a:p>
        </p:txBody>
      </p:sp>
      <p:sp>
        <p:nvSpPr>
          <p:cNvPr id="30101" name="eng-ar1"/>
          <p:cNvSpPr/>
          <p:nvPr/>
        </p:nvSpPr>
        <p:spPr>
          <a:xfrm>
            <a:off x="37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2" name="eng-box"/>
          <p:cNvSpPr/>
          <p:nvPr/>
        </p:nvSpPr>
        <p:spPr>
          <a:xfrm>
            <a:off x="5500000" y="3400000"/>
            <a:ext cx="13400000" cy="81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</a:p>
        </p:txBody>
      </p:sp>
      <p:sp>
        <p:nvSpPr>
          <p:cNvPr id="30103" name="eng-boxlab"/>
          <p:cNvSpPr txBox="1"/>
          <p:nvPr/>
        </p:nvSpPr>
        <p:spPr>
          <a:xfrm>
            <a:off x="5900000" y="3650000"/>
            <a:ext cx="8000000" cy="6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l"/>
            <a:r>
              <a:rPr lang="ko-KR" altLang="en-US" sz="2100" b="1" dirty="0">
                <a:solidFill>
                  <a:srgbClr val="FAE100"/>
                </a:solidFill>
              </a:rPr>
              <a:t>하네스</a:t>
            </a:r>
            <a:r>
              <a:rPr lang="ko-KR" altLang="en-US" sz="2100" b="0" dirty="0">
                <a:solidFill>
                  <a:srgbClr val="E0E0E0"/>
                </a:solidFill>
              </a:rPr>
              <a:t>  엔진 넷이 나란히 돈다</a:t>
            </a:r>
          </a:p>
        </p:txBody>
      </p:sp>
      <p:sp>
        <p:nvSpPr>
          <p:cNvPr id="30104" name="eng-n0"/>
          <p:cNvSpPr/>
          <p:nvPr/>
        </p:nvSpPr>
        <p:spPr>
          <a:xfrm>
            <a:off x="5900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의도 정의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무엇이 성공인지, 무엇은 안 할지 먼저 정한다</a:t>
            </a:r>
          </a:p>
        </p:txBody>
      </p:sp>
      <p:sp>
        <p:nvSpPr>
          <p:cNvPr id="30105" name="eng-n1"/>
          <p:cNvSpPr/>
          <p:nvPr/>
        </p:nvSpPr>
        <p:spPr>
          <a:xfrm>
            <a:off x="12425000" y="43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되묻기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모호하면 만들기 전에 다시 묻는다</a:t>
            </a:r>
          </a:p>
        </p:txBody>
      </p:sp>
      <p:sp>
        <p:nvSpPr>
          <p:cNvPr id="30106" name="eng-n2"/>
          <p:cNvSpPr/>
          <p:nvPr/>
        </p:nvSpPr>
        <p:spPr>
          <a:xfrm>
            <a:off x="5900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7A7A7A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7A7A7A"/>
                </a:solidFill>
              </a:rPr>
              <a:t>맥락 잇기</a:t>
            </a:r>
          </a:p>
          <a:p>
            <a:pPr algn="ctr"/>
            <a:r>
              <a:rPr lang="ko-KR" altLang="en-US" sz="2000" b="0" dirty="0">
                <a:solidFill>
                  <a:srgbClr val="7A7A7A"/>
                </a:solidFill>
              </a:rPr>
              <a:t>세션이 바뀌어도 하던 일을 잇는다</a:t>
            </a:r>
          </a:p>
        </p:txBody>
      </p:sp>
      <p:sp>
        <p:nvSpPr>
          <p:cNvPr id="30107" name="eng-n3"/>
          <p:cNvSpPr/>
          <p:nvPr/>
        </p:nvSpPr>
        <p:spPr>
          <a:xfrm>
            <a:off x="12425000" y="7050000"/>
            <a:ext cx="6075000" cy="2400000"/>
          </a:xfrm>
          <a:prstGeom prst="roundRect">
            <a:avLst>
              <a:gd name="adj" fmla="val 9000"/>
            </a:avLst>
          </a:prstGeom>
          <a:solidFill>
            <a:srgbClr val="1E1B00"/>
          </a:solidFill>
          <a:ln w="381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3000" b="1" dirty="0">
                <a:solidFill>
                  <a:srgbClr val="FAE100"/>
                </a:solidFill>
              </a:rPr>
              <a:t>품질 게이트</a:t>
            </a:r>
          </a:p>
          <a:p>
            <a:pPr algn="ctr"/>
            <a:r>
              <a:rPr lang="ko-KR" altLang="en-US" sz="2000" b="0" dirty="0">
                <a:solidFill>
                  <a:srgbClr val="FAE100"/>
                </a:solidFill>
              </a:rPr>
              <a:t>나가는 자리에서 통과를 막고 선다</a:t>
            </a:r>
          </a:p>
        </p:txBody>
      </p:sp>
      <p:sp>
        <p:nvSpPr>
          <p:cNvPr id="30108" name="eng-ar2"/>
          <p:cNvSpPr/>
          <p:nvPr/>
        </p:nvSpPr>
        <p:spPr>
          <a:xfrm>
            <a:off x="19100000" y="6590000"/>
            <a:ext cx="1600000" cy="620000"/>
          </a:xfrm>
          <a:prstGeom prst="rightArrow">
            <a:avLst>
              <a:gd name="adj1" fmla="val 50000"/>
              <a:gd name="adj2" fmla="val 42000"/>
            </a:avLst>
          </a:prstGeom>
          <a:solidFill>
            <a:srgbClr val="FAE1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09" name="eng-out"/>
          <p:cNvSpPr/>
          <p:nvPr/>
        </p:nvSpPr>
        <p:spPr>
          <a:xfrm>
            <a:off x="20900000" y="6000000"/>
            <a:ext cx="2800000" cy="1800000"/>
          </a:xfrm>
          <a:prstGeom prst="roundRect">
            <a:avLst>
              <a:gd name="adj" fmla="val 9000"/>
            </a:avLst>
          </a:prstGeom>
          <a:solidFill>
            <a:srgbClr val="0D0D0D"/>
          </a:solidFill>
          <a:ln w="12700">
            <a:solidFill>
              <a:srgbClr val="FAE100"/>
            </a:solidFill>
          </a:ln>
        </p:spPr>
        <p:txBody>
          <a:bodyPr lIns="274320" tIns="137160" rIns="274320" bIns="137160" anchor="ctr">
            <a:normAutofit/>
          </a:bodyPr>
          <a:lstStyle/>
          <a:p>
            <a:pPr algn="ctr"/>
            <a:r>
              <a:rPr lang="ko-KR" altLang="en-US" sz="2200" b="1" dirty="0">
                <a:solidFill>
                  <a:srgbClr val="FAE100"/>
                </a:solidFill>
              </a:rPr>
              <a:t>되돌릴 수 없는 곳</a:t>
            </a:r>
          </a:p>
        </p:txBody>
      </p:sp>
      <p:sp>
        <p:nvSpPr>
          <p:cNvPr id="30110" name="eng-arup"/>
          <p:cNvSpPr/>
          <p:nvPr/>
        </p:nvSpPr>
        <p:spPr>
          <a:xfrm>
            <a:off x="15237500" y="9510000"/>
            <a:ext cx="450000" cy="580000"/>
          </a:xfrm>
          <a:prstGeom prst="upArrow">
            <a:avLst>
              <a:gd name="adj1" fmla="val 50000"/>
              <a:gd name="adj2" fmla="val 42000"/>
            </a:avLst>
          </a:prstGeom>
          <a:solidFill>
            <a:srgbClr val="FAE1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12" name="eng-focus"/>
          <p:cNvSpPr txBox="1"/>
          <p:nvPr/>
        </p:nvSpPr>
        <p:spPr>
          <a:xfrm>
            <a:off x="5900000" y="10150000"/>
            <a:ext cx="5775000" cy="10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 algn="r"/>
            <a:r>
              <a:rPr lang="ko-KR" altLang="en-US" sz="2100" b="1" dirty="0">
                <a:solidFill>
                  <a:srgbClr val="FAE100"/>
                </a:solidFill>
              </a:rPr>
              <a:t>오늘 다루는 것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카카오 큰글씨 Bold"/>
        <a:ea typeface="카카오 큰글씨 Bold"/>
        <a:cs typeface="카카오 큰글씨 Bold"/>
      </a:majorFont>
      <a:minorFont>
        <a:latin typeface="카카오 큰글씨 Bold"/>
        <a:ea typeface="카카오 큰글씨 Bold"/>
        <a:cs typeface="카카오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카카오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카카오 큰글씨 Regular"/>
            <a:ea typeface="카카오 큰글씨 Regular"/>
            <a:cs typeface="카카오 큰글씨 Regular"/>
            <a:sym typeface="카카오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카카오 큰글씨 Bold"/>
        <a:ea typeface="카카오 큰글씨 Bold"/>
        <a:cs typeface="카카오 큰글씨 Bold"/>
      </a:majorFont>
      <a:minorFont>
        <a:latin typeface="카카오 큰글씨 Bold"/>
        <a:ea typeface="카카오 큰글씨 Bold"/>
        <a:cs typeface="카카오 큰글씨 Bold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카카오 큰글씨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카카오 큰글씨 Regular"/>
            <a:ea typeface="카카오 큰글씨 Regular"/>
            <a:cs typeface="카카오 큰글씨 Regular"/>
            <a:sym typeface="카카오 큰글씨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9229</Words>
  <Application>Microsoft Macintosh PowerPoint</Application>
  <PresentationFormat>사용자 지정</PresentationFormat>
  <Paragraphs>1501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카카오 큰글씨 Bold</vt:lpstr>
      <vt:lpstr>카카오 큰글씨 Regular</vt:lpstr>
      <vt:lpstr>Kakao Small Sans</vt:lpstr>
      <vt:lpstr>Courier New</vt:lpstr>
      <vt:lpstr>Helvetica Neue</vt:lpstr>
      <vt:lpstr>20_BasicBlack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성진 권</cp:lastModifiedBy>
  <cp:revision>18</cp:revision>
  <dcterms:modified xsi:type="dcterms:W3CDTF">2026-09-04T11:42:45Z</dcterms:modified>
</cp:coreProperties>
</file>